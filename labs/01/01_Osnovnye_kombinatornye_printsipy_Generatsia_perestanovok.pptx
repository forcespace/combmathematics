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  <p:sldMasterId id="2147483888" r:id="rId2"/>
    <p:sldMasterId id="2147483924" r:id="rId3"/>
    <p:sldMasterId id="2147483936" r:id="rId4"/>
  </p:sldMasterIdLst>
  <p:notesMasterIdLst>
    <p:notesMasterId r:id="rId49"/>
  </p:notesMasterIdLst>
  <p:sldIdLst>
    <p:sldId id="330" r:id="rId5"/>
    <p:sldId id="359" r:id="rId6"/>
    <p:sldId id="332" r:id="rId7"/>
    <p:sldId id="433" r:id="rId8"/>
    <p:sldId id="432" r:id="rId9"/>
    <p:sldId id="401" r:id="rId10"/>
    <p:sldId id="404" r:id="rId11"/>
    <p:sldId id="403" r:id="rId12"/>
    <p:sldId id="411" r:id="rId13"/>
    <p:sldId id="413" r:id="rId14"/>
    <p:sldId id="414" r:id="rId15"/>
    <p:sldId id="415" r:id="rId16"/>
    <p:sldId id="417" r:id="rId17"/>
    <p:sldId id="416" r:id="rId18"/>
    <p:sldId id="418" r:id="rId19"/>
    <p:sldId id="419" r:id="rId20"/>
    <p:sldId id="425" r:id="rId21"/>
    <p:sldId id="427" r:id="rId22"/>
    <p:sldId id="434" r:id="rId23"/>
    <p:sldId id="438" r:id="rId24"/>
    <p:sldId id="436" r:id="rId25"/>
    <p:sldId id="435" r:id="rId26"/>
    <p:sldId id="437" r:id="rId27"/>
    <p:sldId id="458" r:id="rId28"/>
    <p:sldId id="445" r:id="rId29"/>
    <p:sldId id="439" r:id="rId30"/>
    <p:sldId id="440" r:id="rId31"/>
    <p:sldId id="441" r:id="rId32"/>
    <p:sldId id="442" r:id="rId33"/>
    <p:sldId id="443" r:id="rId34"/>
    <p:sldId id="444" r:id="rId35"/>
    <p:sldId id="459" r:id="rId36"/>
    <p:sldId id="446" r:id="rId37"/>
    <p:sldId id="455" r:id="rId38"/>
    <p:sldId id="447" r:id="rId39"/>
    <p:sldId id="448" r:id="rId40"/>
    <p:sldId id="450" r:id="rId41"/>
    <p:sldId id="451" r:id="rId42"/>
    <p:sldId id="453" r:id="rId43"/>
    <p:sldId id="452" r:id="rId44"/>
    <p:sldId id="454" r:id="rId45"/>
    <p:sldId id="457" r:id="rId46"/>
    <p:sldId id="456" r:id="rId47"/>
    <p:sldId id="400" r:id="rId48"/>
  </p:sldIdLst>
  <p:sldSz cx="12192000" cy="6858000"/>
  <p:notesSz cx="6858000" cy="9144000"/>
  <p:custDataLst>
    <p:tags r:id="rId50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er" initials="A" lastIdx="1" clrIdx="0">
    <p:extLst>
      <p:ext uri="{19B8F6BF-5375-455C-9EA6-DF929625EA0E}">
        <p15:presenceInfo xmlns:p15="http://schemas.microsoft.com/office/powerpoint/2012/main" userId="Alexa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85270" autoAdjust="0"/>
  </p:normalViewPr>
  <p:slideViewPr>
    <p:cSldViewPr>
      <p:cViewPr varScale="1">
        <p:scale>
          <a:sx n="58" d="100"/>
          <a:sy n="58" d="100"/>
        </p:scale>
        <p:origin x="880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tags" Target="tags/tag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E29CD-DFFE-4B5B-8905-980ED44A5828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A5B5A-6157-4C6B-81CD-B2369B36DEB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83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213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123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823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04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741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322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7426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680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971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491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167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083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932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235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644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842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158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260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9755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38744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2769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3416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0851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6127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8135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7562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7374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1112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367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2065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3791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4421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7104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5262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0088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956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83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38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239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70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56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6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34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82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831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09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93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865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205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180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882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59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46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159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368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24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032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110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329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0913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9839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415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533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115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034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1979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4010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8141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019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7837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4435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9948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0080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15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978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9204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0999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060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1642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65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85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68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51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30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5666138"/>
            <a:ext cx="6552526" cy="1191862"/>
          </a:xfrm>
        </p:spPr>
        <p:txBody>
          <a:bodyPr>
            <a:normAutofit/>
          </a:bodyPr>
          <a:lstStyle/>
          <a:p>
            <a:pPr algn="l"/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Козлов Александр</a:t>
            </a:r>
          </a:p>
        </p:txBody>
      </p:sp>
      <p:sp>
        <p:nvSpPr>
          <p:cNvPr id="4" name="Rectangle 2"/>
          <p:cNvSpPr/>
          <p:nvPr/>
        </p:nvSpPr>
        <p:spPr>
          <a:xfrm>
            <a:off x="0" y="3920193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4232822"/>
            <a:ext cx="11552746" cy="93992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Основные комбинаторные принципы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214" y="1459660"/>
            <a:ext cx="4507571" cy="146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7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/>
          <p:nvPr/>
        </p:nvSpPr>
        <p:spPr>
          <a:xfrm>
            <a:off x="0" y="3920193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4232822"/>
            <a:ext cx="11552746" cy="93992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Наука «Комбинаторика»</a:t>
            </a:r>
          </a:p>
        </p:txBody>
      </p:sp>
    </p:spTree>
    <p:extLst>
      <p:ext uri="{BB962C8B-B14F-4D97-AF65-F5344CB8AC3E}">
        <p14:creationId xmlns:p14="http://schemas.microsoft.com/office/powerpoint/2010/main" val="360599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Комбинаторика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368" y="1600860"/>
            <a:ext cx="48965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Комбинаторика - раздел дискретной математики, ориентированный на решение задач выбора и расположения элементов некоторого множества в соответствии с заданными правилами и ограничениями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044" y="1600860"/>
            <a:ext cx="6155604" cy="492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7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Комбинаторика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368" y="1628800"/>
            <a:ext cx="1116718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Каждое такое правило определяет способ построения некоторой комбинаторной конфигурации, поэтому комбинаторика занимается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изучением свойств комбинаторных конфигураций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условиями их существования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алгоритмами построения комбинаторных конфигураций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оптимизацией этих алгоритмов</a:t>
            </a:r>
          </a:p>
          <a:p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Комбинаторика тесно связана с теорией вероятностей, теорией графов, теорией чисел, теорией групп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157827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Две основные задачи комбинаторики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368" y="1600860"/>
            <a:ext cx="46805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Подсчёт комбинаций</a:t>
            </a:r>
          </a:p>
          <a:p>
            <a:pPr marL="514350" indent="-514350">
              <a:buAutoNum type="arabicPeriod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Генерация комбинаторных объектов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6626" name="Picture 2" descr="ÐÐ°ÑÑÐ¸Ð½ÐºÐ¸ Ð¿Ð¾ Ð·Ð°Ð¿ÑÐ¾ÑÑ ÐÐµÐ½ÐµÑÐ°ÑÐ¸Ñ ÐºÐ¾Ð¼Ð±Ð¸Ð½Ð°ÑÐ¾ÑÐ½ÑÑ Ð¾Ð±ÑÐµÐºÑÐ¾Ð²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72"/>
          <a:stretch/>
        </p:blipFill>
        <p:spPr bwMode="auto">
          <a:xfrm>
            <a:off x="5591944" y="1772816"/>
            <a:ext cx="6054620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44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/>
          <p:nvPr/>
        </p:nvSpPr>
        <p:spPr>
          <a:xfrm>
            <a:off x="0" y="3920193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4232822"/>
            <a:ext cx="11552746" cy="93992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Правила Комбинаторики</a:t>
            </a:r>
          </a:p>
        </p:txBody>
      </p:sp>
    </p:spTree>
    <p:extLst>
      <p:ext uri="{BB962C8B-B14F-4D97-AF65-F5344CB8AC3E}">
        <p14:creationId xmlns:p14="http://schemas.microsoft.com/office/powerpoint/2010/main" val="3415651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Правило суммы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0860"/>
                <a:ext cx="4896544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∩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=∅</m:t>
                    </m:r>
                  </m:oMath>
                </a14:m>
                <a:endParaRPr lang="ru-RU" sz="2800" b="0" dirty="0">
                  <a:latin typeface="Segoe UI" panose="020B0502040204020203" pitchFamily="34" charset="0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Если элемент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можно выбрать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способами, а элемент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способами, то выбор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элемента</a:t>
                </a:r>
                <a:endParaRPr lang="en-US" sz="2800" i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можно осуществить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способами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0860"/>
                <a:ext cx="4896544" cy="4401205"/>
              </a:xfrm>
              <a:prstGeom prst="rect">
                <a:avLst/>
              </a:prstGeom>
              <a:blipFill rotWithShape="0">
                <a:blip r:embed="rId3"/>
                <a:stretch>
                  <a:fillRect l="-2615" t="-1524" b="-29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Овал 6"/>
          <p:cNvSpPr/>
          <p:nvPr/>
        </p:nvSpPr>
        <p:spPr>
          <a:xfrm>
            <a:off x="6744072" y="2317172"/>
            <a:ext cx="2232248" cy="297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ContrastingRightFacing"/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8923439" y="2317172"/>
            <a:ext cx="2232248" cy="297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HeroicExtremeLeftFacing"/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516779" y="3475316"/>
                <a:ext cx="5739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779" y="3475316"/>
                <a:ext cx="57393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9900726" y="3475316"/>
                <a:ext cx="4793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726" y="3475316"/>
                <a:ext cx="47936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933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Правило произведения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484784"/>
                <a:ext cx="576064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∩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𝐵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=∅</m:t>
                    </m:r>
                  </m:oMath>
                </a14:m>
                <a:endParaRPr lang="ru-RU" sz="2800" dirty="0">
                  <a:latin typeface="Segoe UI" panose="020B0502040204020203" pitchFamily="34" charset="0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Если элемент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можно выбрать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способами и если после каждого такого выбора элемент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можно выбрать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способами, то выбор пары</a:t>
                </a: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в указанном порядке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можно осуществить</a:t>
                </a: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способами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484784"/>
                <a:ext cx="5760640" cy="5262979"/>
              </a:xfrm>
              <a:prstGeom prst="rect">
                <a:avLst/>
              </a:prstGeom>
              <a:blipFill rotWithShape="0">
                <a:blip r:embed="rId3"/>
                <a:stretch>
                  <a:fillRect l="-2222" t="-1275" b="-2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Овал 6"/>
          <p:cNvSpPr/>
          <p:nvPr/>
        </p:nvSpPr>
        <p:spPr>
          <a:xfrm>
            <a:off x="6744072" y="2317172"/>
            <a:ext cx="2232248" cy="297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ContrastingRightFacing"/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8923439" y="2317172"/>
            <a:ext cx="2232248" cy="297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HeroicExtremeLeftFacing"/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516779" y="3475316"/>
                <a:ext cx="5739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779" y="3475316"/>
                <a:ext cx="57393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9900726" y="3475316"/>
                <a:ext cx="4793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726" y="3475316"/>
                <a:ext cx="47936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228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Принцип Дирихле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0860"/>
                <a:ext cx="4896544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Если в 10 клетках сидит 11 кроликов, то по крайней мере в одной клетке сидит не менее двух кроликов</a:t>
                </a: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элемент разбит на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множеств, то по крайней мере одно множество содержит не менее двух элементов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0860"/>
                <a:ext cx="4896544" cy="4401205"/>
              </a:xfrm>
              <a:prstGeom prst="rect">
                <a:avLst/>
              </a:prstGeom>
              <a:blipFill>
                <a:blip r:embed="rId3"/>
                <a:stretch>
                  <a:fillRect l="-2615" t="-1524" b="-29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50" name="Picture 6" descr="ÐÐ°ÑÑÐ¸Ð½ÐºÐ¸ Ð¿Ð¾ Ð·Ð°Ð¿ÑÐ¾ÑÑ Ð³Ð¾Ð»ÑÐ±Ð¸ Ð² ÐºÐ»ÐµÑÐºÐµ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863" y="1600860"/>
            <a:ext cx="5916717" cy="443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21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/>
          <p:nvPr/>
        </p:nvSpPr>
        <p:spPr>
          <a:xfrm>
            <a:off x="0" y="3920193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4232822"/>
            <a:ext cx="11552746" cy="93992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Основные комбинаторные конфигурации</a:t>
            </a:r>
          </a:p>
        </p:txBody>
      </p:sp>
    </p:spTree>
    <p:extLst>
      <p:ext uri="{BB962C8B-B14F-4D97-AF65-F5344CB8AC3E}">
        <p14:creationId xmlns:p14="http://schemas.microsoft.com/office/powerpoint/2010/main" val="4128038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Размещения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0860"/>
                <a:ext cx="11449272" cy="4408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Имеются предметы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различных видов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 Из них составляют всевозможные расстановки длины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Например,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- расстановка длины 4</a:t>
                </a:r>
              </a:p>
              <a:p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Две расстановки считаются различными, если они отличаются видом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входящих в них элементов или порядком их в расстановке.</a:t>
                </a: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Такие расстановки называются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размещениями без повторений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а их число обозначают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0860"/>
                <a:ext cx="11449272" cy="4408899"/>
              </a:xfrm>
              <a:prstGeom prst="rect">
                <a:avLst/>
              </a:prstGeom>
              <a:blipFill>
                <a:blip r:embed="rId3"/>
                <a:stretch>
                  <a:fillRect l="-1118" t="-1521" r="-213" b="-2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85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Размещения. Пример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368" y="1600860"/>
            <a:ext cx="114492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Множество состоит из 17 элементов. Выбираются 3 элемента с учётом порядка.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buAutoNum type="arabicPeriod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Сколькими способами могут быть выбраны 3 элемента?</a:t>
            </a:r>
          </a:p>
          <a:p>
            <a:pPr marL="514350" indent="-514350">
              <a:buAutoNum type="arabicPeriod"/>
            </a:pPr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buAutoNum type="arabicPeriod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Сгенерировать всевозможные способы выбора трёх элементов.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0385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Перестановки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0860"/>
                <a:ext cx="11449272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При составлении размещений без повторений из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по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мы получали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расстановки, отличающиеся друг от друга либо составом, либо порядком элементов</a:t>
                </a: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Но если брать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расстановки, которые включают все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элементов, то они могут отличаться друг от друга лишь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порядком входящих в них элементов</a:t>
                </a: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Такие расстановки называются </a:t>
                </a:r>
                <a:r>
                  <a:rPr lang="ru-RU" sz="28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перестановками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из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элементов, а их число обозначается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0860"/>
                <a:ext cx="11449272" cy="4401205"/>
              </a:xfrm>
              <a:prstGeom prst="rect">
                <a:avLst/>
              </a:prstGeom>
              <a:blipFill>
                <a:blip r:embed="rId3"/>
                <a:stretch>
                  <a:fillRect l="-1118" t="-1524" r="-479" b="-29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608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Перестановки. Пример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368" y="1600860"/>
            <a:ext cx="109452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Множество состоит из 8 элементов. Мы выбираем все 8 элементов с учётом порядка. Сколькими способами мы можем это сделать?</a:t>
            </a:r>
          </a:p>
          <a:p>
            <a:pPr marL="514350" indent="-514350">
              <a:buAutoNum type="arabicPeriod"/>
            </a:pPr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buFontTx/>
              <a:buAutoNum type="arabicPeriod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Сгенерировать всевозможные способы выбора 8 элементов.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2593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Сочетания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0860"/>
                <a:ext cx="11449272" cy="3547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В тех случаях, когда нас не интересует порядок элементов в расстановке, а интересует лишь ее состав, то говорят о сочетаниях</a:t>
                </a: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Сочетаниями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из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различных элементов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по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называют все возможные расстановки длины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образованные из этих элементов и отличающиеся друг от друга составом, но не порядком элементов</a:t>
                </a:r>
              </a:p>
              <a:p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Общее число сочетаний обозначают через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0860"/>
                <a:ext cx="11449272" cy="3547125"/>
              </a:xfrm>
              <a:prstGeom prst="rect">
                <a:avLst/>
              </a:prstGeom>
              <a:blipFill>
                <a:blip r:embed="rId3"/>
                <a:stretch>
                  <a:fillRect l="-1118" t="-1893" r="-319" b="-39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44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Сочетания. Пример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367" y="1600860"/>
            <a:ext cx="1116718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Множество состоит их 14 элементов. Мы составляем всевозможные подмножества мощности 3.</a:t>
            </a:r>
          </a:p>
          <a:p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buAutoNum type="arabicPeriod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Сколькими способами мы можем это сделать?</a:t>
            </a:r>
          </a:p>
          <a:p>
            <a:pPr marL="514350" indent="-514350">
              <a:buAutoNum type="arabicPeriod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Сгенерировать всевозможные подмножества.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5735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/>
          <p:nvPr/>
        </p:nvSpPr>
        <p:spPr>
          <a:xfrm>
            <a:off x="0" y="3920193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4232822"/>
            <a:ext cx="11552746" cy="93992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Генерация комбинаторных объектов</a:t>
            </a:r>
          </a:p>
        </p:txBody>
      </p:sp>
    </p:spTree>
    <p:extLst>
      <p:ext uri="{BB962C8B-B14F-4D97-AF65-F5344CB8AC3E}">
        <p14:creationId xmlns:p14="http://schemas.microsoft.com/office/powerpoint/2010/main" val="158721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Порождение комбинаторных объектов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99356" y="1412776"/>
            <a:ext cx="1116718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Все рассматриваемые методы систематического порождения комбинаторных объектов будут сводиться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к выбору начальной конфигурации, задающей первый генерируемый объект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трансформации полученного объекта в следующий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проверке условия окончания, которое определяет момент прекращения вычислений</a:t>
            </a:r>
          </a:p>
          <a:p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При этом особый интерес будут представлять алгоритмы генерации объектов в порядке минимального изменения, когда два «соседних» порождаемых объекта различаются в подходящем смысле «минимально»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84759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Лексикографический порядок</a:t>
            </a:r>
          </a:p>
          <a:p>
            <a:endParaRPr lang="ru-RU" sz="36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556792"/>
                <a:ext cx="11167188" cy="4025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На множестве всех перестановок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-элементного множества определим бинарное отношение </a:t>
                </a:r>
                <a14:m>
                  <m:oMath xmlns:m="http://schemas.openxmlformats.org/officeDocument/2006/math">
                    <m:r>
                      <a:rPr lang="ru-RU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≤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следующим образом: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≤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⇔∃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≥1: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 ∧∀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&lt;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Отношение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≤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удовлетворяет следующим аксиомам: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∀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(рефлексивность)</a:t>
                </a: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∀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∀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𝛽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𝛽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∧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𝛽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𝛽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(антисимметричность)</a:t>
                </a: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∀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∀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𝛽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∀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𝛾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𝛽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∧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𝛽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𝛾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𝛾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(транзитивность)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∀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∀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𝛽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𝛽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∨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𝛽</m:t>
                        </m:r>
                        <m:r>
                          <a:rPr lang="ru-R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(сравнимость)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556792"/>
                <a:ext cx="11167188" cy="4025782"/>
              </a:xfrm>
              <a:prstGeom prst="rect">
                <a:avLst/>
              </a:prstGeom>
              <a:blipFill>
                <a:blip r:embed="rId3"/>
                <a:stretch>
                  <a:fillRect l="-1146" t="-1513" b="-31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76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Лексикографический порядок</a:t>
            </a:r>
          </a:p>
          <a:p>
            <a:endParaRPr lang="ru-RU" sz="36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556792"/>
                <a:ext cx="11167188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Отношение 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≤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есть линейный порядок на множестве перестановок</a:t>
                </a: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Такой порядок называется </a:t>
                </a:r>
                <a:r>
                  <a:rPr lang="ru-RU" sz="28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лексикографическим</a:t>
                </a:r>
              </a:p>
              <a:p>
                <a:endParaRPr lang="ru-RU" sz="28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123,</m:t>
                      </m:r>
                      <m:r>
                        <a:rPr lang="ru-RU" sz="2800" b="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ru-RU" sz="28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132,</m:t>
                      </m:r>
                      <m:r>
                        <a:rPr lang="ru-RU" sz="2800" b="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ru-RU" sz="28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213,</m:t>
                      </m:r>
                      <m:r>
                        <a:rPr lang="ru-RU" sz="2800" b="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ru-RU" sz="28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231,</m:t>
                      </m:r>
                      <m:r>
                        <a:rPr lang="ru-RU" sz="2800" b="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ru-RU" sz="28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312,</m:t>
                      </m:r>
                      <m:r>
                        <a:rPr lang="ru-RU" sz="2800" b="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ru-RU" sz="28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321</m:t>
                      </m:r>
                    </m:oMath>
                  </m:oMathPara>
                </a14:m>
                <a:endParaRPr lang="ru-RU" sz="3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556792"/>
                <a:ext cx="11167188" cy="1815882"/>
              </a:xfrm>
              <a:prstGeom prst="rect">
                <a:avLst/>
              </a:prstGeom>
              <a:blipFill>
                <a:blip r:embed="rId3"/>
                <a:stretch>
                  <a:fillRect l="-1146" t="-3356" r="-7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83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/>
          <p:nvPr/>
        </p:nvSpPr>
        <p:spPr>
          <a:xfrm>
            <a:off x="0" y="3921554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7328" y="4221088"/>
            <a:ext cx="11552746" cy="93992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Генерация перестановок в лексикографическом порядке</a:t>
            </a:r>
          </a:p>
        </p:txBody>
      </p:sp>
    </p:spTree>
    <p:extLst>
      <p:ext uri="{BB962C8B-B14F-4D97-AF65-F5344CB8AC3E}">
        <p14:creationId xmlns:p14="http://schemas.microsoft.com/office/powerpoint/2010/main" val="597503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Нарайаны</a:t>
            </a:r>
            <a:r>
              <a:rPr lang="en-US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en-US" sz="3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Pandita</a:t>
            </a:r>
            <a:r>
              <a:rPr lang="en-US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Narayana)</a:t>
            </a:r>
            <a:endParaRPr lang="ru-RU" sz="36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5796"/>
                <a:ext cx="11167188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Будем говорить, что перестановка </a:t>
                </a:r>
                <a14:m>
                  <m:oMath xmlns:m="http://schemas.openxmlformats.org/officeDocument/2006/math">
                    <m:r>
                      <a:rPr lang="ru-RU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𝛽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непосредственно следует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за перестановкой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относительно лексикографического порядка если выполняются следующие условия:</a:t>
                </a: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𝛽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т. е.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𝛽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и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≠</m:t>
                    </m:r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𝛽</m:t>
                    </m:r>
                  </m:oMath>
                </a14:m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не существует такой перестановки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𝛾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что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𝛾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𝛽</m:t>
                    </m:r>
                  </m:oMath>
                </a14:m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5796"/>
                <a:ext cx="11167188" cy="3108543"/>
              </a:xfrm>
              <a:prstGeom prst="rect">
                <a:avLst/>
              </a:prstGeom>
              <a:blipFill>
                <a:blip r:embed="rId3"/>
                <a:stretch>
                  <a:fillRect l="-1146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02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Нарайаны. Идея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5796"/>
                <a:ext cx="11167188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Генерация перестановок в лексикографическом порядке</a:t>
                </a: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Начинаем с тождественной перестановки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(1,2,…,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Переходим от уже построенной перестановки                  </a:t>
                </a:r>
                <a:r>
                  <a:rPr lang="ru-RU" sz="2800" b="0" dirty="0">
                    <a:cs typeface="Segoe UI" panose="020B0502040204020203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к непосредственно следующей за ней перестановке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𝛽</m:t>
                    </m:r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Останавливаемся, как только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получим наибольшую перестановку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−1,…,2, 1</m:t>
                        </m:r>
                      </m:e>
                    </m:d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(относительно лексикографического порядка)</a:t>
                </a: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ru-RU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5796"/>
                <a:ext cx="11167188" cy="4401205"/>
              </a:xfrm>
              <a:prstGeom prst="rect">
                <a:avLst/>
              </a:prstGeom>
              <a:blipFill rotWithShape="0">
                <a:blip r:embed="rId3"/>
                <a:stretch>
                  <a:fillRect l="-1365" t="-1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29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</a:t>
            </a:r>
            <a:r>
              <a:rPr lang="ru-RU" sz="3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Нарайаны</a:t>
            </a:r>
            <a:r>
              <a:rPr lang="en-US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. </a:t>
            </a:r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Пример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07368" y="1628800"/>
                <a:ext cx="11167188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Перестановка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𝛼</m:t>
                      </m:r>
                      <m:r>
                        <a:rPr lang="ru-RU" sz="2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ctrlPr>
                            <a:rPr lang="ru-RU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  <m:r>
                            <a:rPr lang="ru-RU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3</m:t>
                          </m:r>
                          <m:r>
                            <a:rPr lang="ru-RU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  <m:r>
                            <a:rPr lang="ru-RU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8, 7, 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6</m:t>
                          </m:r>
                          <m:r>
                            <a:rPr lang="ru-RU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5</m:t>
                          </m:r>
                          <m:r>
                            <a:rPr lang="ru-RU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За ней следует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𝛽</m:t>
                      </m:r>
                      <m:r>
                        <a:rPr lang="ru-RU" sz="2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ctrlP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3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4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5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6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7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28800"/>
                <a:ext cx="11167188" cy="3108543"/>
              </a:xfrm>
              <a:prstGeom prst="rect">
                <a:avLst/>
              </a:prstGeom>
              <a:blipFill>
                <a:blip r:embed="rId3"/>
                <a:stretch>
                  <a:fillRect l="-1146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67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/>
          <p:nvPr/>
        </p:nvSpPr>
        <p:spPr>
          <a:xfrm>
            <a:off x="0" y="3921554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7328" y="4221088"/>
            <a:ext cx="11552746" cy="93992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Как получить следующую перестановку?</a:t>
            </a:r>
          </a:p>
        </p:txBody>
      </p:sp>
    </p:spTree>
    <p:extLst>
      <p:ext uri="{BB962C8B-B14F-4D97-AF65-F5344CB8AC3E}">
        <p14:creationId xmlns:p14="http://schemas.microsoft.com/office/powerpoint/2010/main" val="4289190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Нарайаны. Трансформация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99356" y="1412776"/>
                <a:ext cx="11167188" cy="5332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Просматриваем справа налево перестановку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в поисках самой правой позиции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такой,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Если такой позиции нет,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&gt;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&gt;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…</m:t>
                    </m:r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&gt;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т. е.</a:t>
                </a: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−1,…,2, 1</m:t>
                        </m:r>
                      </m:e>
                    </m:d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и генерировать больше нечего.</a:t>
                </a: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Пусть такая позиция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есть </a:t>
                </a: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&lt;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+1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&gt;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+2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&gt;…&gt;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Далее ищем первую позицию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при переходе от позиции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к позиции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такую,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&lt; </m:t>
                    </m:r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).</a:t>
                </a: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Затем меняем местами элементы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а в полученной перестановке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′</m:t>
                    </m:r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𝛼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𝛼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𝛼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отрезок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…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переворачиваем.</a:t>
                </a: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Построенную перестановку обозначим через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𝛽</m:t>
                    </m:r>
                  </m:oMath>
                </a14:m>
                <a:endParaRPr lang="ru-RU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56" y="1412776"/>
                <a:ext cx="11167188" cy="5332357"/>
              </a:xfrm>
              <a:prstGeom prst="rect">
                <a:avLst/>
              </a:prstGeom>
              <a:blipFill rotWithShape="0">
                <a:blip r:embed="rId3"/>
                <a:stretch>
                  <a:fillRect l="-1092" t="-1259" b="-20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623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Нарайаны. Пример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07368" y="1605796"/>
                <a:ext cx="11167188" cy="4866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Пусть</a:t>
                </a:r>
                <a:endParaRPr lang="en-US" sz="280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𝛼</m:t>
                      </m:r>
                      <m:r>
                        <a:rPr lang="ru-RU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ctrlPr>
                            <a:rPr lang="ru-RU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ru-RU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2, 6, 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5</m:t>
                          </m:r>
                          <m:r>
                            <a:rPr lang="ru-RU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8, 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7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a:rPr lang="ru-RU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4, 3, 1</m:t>
                          </m:r>
                        </m:e>
                      </m:d>
                    </m:oMath>
                  </m:oMathPara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𝛼</m:t>
                      </m:r>
                      <m:r>
                        <a:rPr lang="ru-RU" sz="2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ctrlP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2, 6, </m:t>
                          </m:r>
                          <m:r>
                            <a:rPr lang="ru-RU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𝟓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8, 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7,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4, 3, 1</m:t>
                          </m:r>
                        </m:e>
                      </m:d>
                    </m:oMath>
                  </m:oMathPara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𝛼</m:t>
                      </m:r>
                      <m:r>
                        <a:rPr lang="ru-RU" sz="2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ctrlP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2, 6, </m:t>
                          </m:r>
                          <m:r>
                            <a:rPr lang="ru-RU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𝟓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8, </m:t>
                          </m:r>
                          <m:r>
                            <a:rPr lang="ru-RU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𝟕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4, 3, 1</m:t>
                          </m:r>
                        </m:e>
                      </m:d>
                    </m:oMath>
                  </m:oMathPara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ru-RU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=5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  <m:r>
                      <a:rPr lang="ru-RU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=7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Поменяем местами эти элементы</a:t>
                </a: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′</m:t>
                      </m:r>
                      <m:r>
                        <a:rPr lang="ru-RU" sz="2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ctrlP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2, 6, 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𝟕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8, 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𝟓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 4, 3, 1</m:t>
                          </m:r>
                        </m:e>
                      </m:d>
                    </m:oMath>
                  </m:oMathPara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Перевернём отрезок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(8,</m:t>
                    </m:r>
                    <m:r>
                      <a:rPr lang="ru-RU" sz="28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5,</m:t>
                    </m:r>
                    <m:r>
                      <a:rPr lang="ru-RU" sz="28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4,</m:t>
                    </m:r>
                    <m:r>
                      <a:rPr lang="ru-RU" sz="28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3,</m:t>
                    </m:r>
                    <m:r>
                      <a:rPr lang="ru-RU" sz="28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1)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и получим перестановку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=(2, 6, 7, </m:t>
                      </m:r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</m:t>
                      </m:r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𝟑</m:t>
                      </m:r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</m:t>
                      </m:r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𝟒</m:t>
                      </m:r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</m:t>
                      </m:r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𝟓</m:t>
                      </m:r>
                      <m:r>
                        <a:rPr lang="ru-RU" sz="28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</m:t>
                      </m:r>
                      <m:r>
                        <a:rPr lang="ru-RU" sz="28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𝟖</m:t>
                      </m:r>
                      <m:r>
                        <a:rPr lang="ru-RU" sz="28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)</m:t>
                      </m:r>
                    </m:oMath>
                  </m:oMathPara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ru-RU" sz="28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5796"/>
                <a:ext cx="11167188" cy="4866782"/>
              </a:xfrm>
              <a:prstGeom prst="rect">
                <a:avLst/>
              </a:prstGeom>
              <a:blipFill>
                <a:blip r:embed="rId3"/>
                <a:stretch>
                  <a:fillRect l="-1146" t="-12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99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Нарайаны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5796"/>
                <a:ext cx="11167188" cy="2385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ru-RU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ru-R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  <m:r>
                          <a:rPr lang="ru-R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  <m:r>
                          <a:rPr lang="ru-R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3</m:t>
                        </m:r>
                        <m:r>
                          <a:rPr lang="ru-R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3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4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  <m:r>
                          <a:rPr lang="en-US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4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3</m:t>
                        </m:r>
                      </m:e>
                    </m:d>
                  </m:oMath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ru-R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4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2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3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3</m:t>
                        </m:r>
                        <m:r>
                          <a:rPr lang="ru-R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4, </m:t>
                        </m:r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3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3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2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4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3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3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  <m:r>
                          <a:rPr lang="en-US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4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4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3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4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3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4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4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4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3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5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4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sz="2800" dirty="0"/>
                  <a:t>	</a:t>
                </a:r>
                <a:endParaRPr lang="ru-RU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5796"/>
                <a:ext cx="11167188" cy="2385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8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Нарайаны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0107" y="1444273"/>
                <a:ext cx="5103805" cy="4505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for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= 0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to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do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 1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while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≠0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do</a:t>
                </a:r>
              </a:p>
              <a:p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begin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write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…,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);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−1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while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&gt;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do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−1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while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do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−1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swap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);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07" y="1444273"/>
                <a:ext cx="5103805" cy="4505272"/>
              </a:xfrm>
              <a:prstGeom prst="rect">
                <a:avLst/>
              </a:prstGeom>
              <a:blipFill>
                <a:blip r:embed="rId3"/>
                <a:stretch>
                  <a:fillRect l="-2509" t="-1624" b="-18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88088" y="2971144"/>
                <a:ext cx="5103805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0" dirty="0">
                    <a:cs typeface="Segoe UI" panose="020B0502040204020203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k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+1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+</m:t>
                    </m:r>
                    <m:d>
                      <m:dPr>
                        <m:begChr m:val="⌊"/>
                        <m:endChr m:val="⌋"/>
                        <m:ctrlPr>
                          <a:rPr lang="en-US" sz="2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 </m:t>
                        </m:r>
                        <m:r>
                          <a:rPr lang="en-US" sz="28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)/2</m:t>
                        </m:r>
                      </m:e>
                    </m:d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while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𝑘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≤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do</a:t>
                </a:r>
              </a:p>
              <a:p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begin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swap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);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𝑘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𝑘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+1;</m:t>
                    </m:r>
                  </m:oMath>
                </a14:m>
                <a:endParaRPr lang="en-US" sz="2800" b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end</a:t>
                </a:r>
              </a:p>
              <a:p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end </a:t>
                </a:r>
                <a:endParaRPr lang="ru-RU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088" y="2971144"/>
                <a:ext cx="5103805" cy="3539430"/>
              </a:xfrm>
              <a:prstGeom prst="rect">
                <a:avLst/>
              </a:prstGeom>
              <a:blipFill>
                <a:blip r:embed="rId4"/>
                <a:stretch>
                  <a:fillRect l="-2509" t="-2065" b="-34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81399" y="1444273"/>
            <a:ext cx="4978497" cy="4937055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888088" y="1444272"/>
            <a:ext cx="4978497" cy="4937055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737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Нарайаны. Использование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6391" y="1272647"/>
            <a:ext cx="1116718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#include &lt;algorithm&gt;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#include &lt;boost/timer.hpp&gt;</a:t>
            </a:r>
          </a:p>
          <a:p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int main()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std::vector&lt;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size_t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 v = { 7, 1, 12, 5, 9, 20, 15 };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boost::timer t;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t.restart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std::sort(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v.begin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(),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v.end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do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{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	copy(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v.begin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(),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v.end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(), std::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ostream_iterator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size_t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&gt;(std::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 " "));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	std::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&lt;&lt; std::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} while (std::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next_permutation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v.begin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(),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v.end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()));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double duration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t.elapsed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std::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&lt;&lt; duration &lt;&lt; std::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}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38713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Нарайаны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5796"/>
                <a:ext cx="11167188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Теорема.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Алгоритм Нарайаны корректен и строит все перестановки без повторений в лексикографическом порядке за время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!)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2800" dirty="0"/>
                  <a:t>	</a:t>
                </a:r>
                <a:endParaRPr lang="ru-RU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5796"/>
                <a:ext cx="11167188" cy="1815882"/>
              </a:xfrm>
              <a:prstGeom prst="rect">
                <a:avLst/>
              </a:prstGeom>
              <a:blipFill>
                <a:blip r:embed="rId3"/>
                <a:stretch>
                  <a:fillRect l="-1146" t="-33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088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/>
          <p:nvPr/>
        </p:nvSpPr>
        <p:spPr>
          <a:xfrm>
            <a:off x="0" y="3921554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7328" y="4221088"/>
            <a:ext cx="11552746" cy="93992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Эффективное порождение перестановок</a:t>
            </a:r>
          </a:p>
        </p:txBody>
      </p:sp>
    </p:spTree>
    <p:extLst>
      <p:ext uri="{BB962C8B-B14F-4D97-AF65-F5344CB8AC3E}">
        <p14:creationId xmlns:p14="http://schemas.microsoft.com/office/powerpoint/2010/main" val="795230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Джонсона - Троттера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368" y="1605796"/>
            <a:ext cx="111671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Любая перестановка в последовательности должна отличаться от предшествующей транспозицией двух соседних элементов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1531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Джонсона – Троттера. Рекурсия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837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Джонсона - Троттера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5796"/>
                <a:ext cx="11167188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Данную последовательность перестановок можно порождать итеративно, получая каждую перестановку из предшествующей ей и небольшого количества добавочной информации</a:t>
                </a: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Это делается с помощью трёх векторов: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текущей перестановки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𝜋</m:t>
                    </m:r>
                    <m:r>
                      <a:rPr lang="ru-RU" sz="28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ru-RU" sz="2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8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ru-RU" sz="28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28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28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ru-RU" sz="28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ru-RU" sz="28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28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28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ru-RU" sz="2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…</m:t>
                        </m:r>
                        <m:r>
                          <a:rPr lang="ru-RU" sz="28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ru-RU" sz="28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ru-RU" sz="28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28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обратной к ней перестановки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  <m:r>
                      <a:rPr lang="ru-RU" sz="28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=(</m:t>
                    </m:r>
                    <m:sSub>
                      <m:sSubPr>
                        <m:ctrlPr>
                          <a:rPr lang="ru-RU" sz="28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ru-RU" sz="28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e>
                      <m:sub>
                        <m:r>
                          <a:rPr lang="ru-RU" sz="28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ru-RU" sz="28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 </m:t>
                    </m:r>
                    <m:sSub>
                      <m:sSubPr>
                        <m:ctrlPr>
                          <a:rPr lang="ru-RU" sz="28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ru-RU" sz="28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e>
                      <m:sub>
                        <m:r>
                          <a:rPr lang="ru-RU" sz="28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ru-RU" sz="28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 </m:t>
                    </m:r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…</m:t>
                    </m:r>
                    <m:r>
                      <a:rPr lang="ru-RU" sz="28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 </m:t>
                    </m:r>
                    <m:sSub>
                      <m:sSubPr>
                        <m:ctrlPr>
                          <a:rPr lang="ru-RU" sz="28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ru-RU" sz="28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e>
                      <m:sub>
                        <m:r>
                          <a:rPr lang="ru-RU" sz="28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  <m:r>
                      <a:rPr lang="ru-RU" sz="28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записи направления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ru-RU" sz="2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</m:t>
                        </m:r>
                      </m:e>
                      <m:sub>
                        <m:r>
                          <a:rPr lang="ru-RU" sz="2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в котором сдвигается каждый элемент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равен -1, если он сдвигается влево; +1, если вправо; 0, если не сдвигается</a:t>
                </a:r>
                <a:endParaRPr lang="ru-RU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5796"/>
                <a:ext cx="11167188" cy="4401205"/>
              </a:xfrm>
              <a:prstGeom prst="rect">
                <a:avLst/>
              </a:prstGeom>
              <a:blipFill>
                <a:blip r:embed="rId3"/>
                <a:stretch>
                  <a:fillRect l="-1146" t="-1385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87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Джонсона - Троттера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5796"/>
                <a:ext cx="11167188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Элемент сдвигается до тех пор, пока не достигнет элемента, большего чем он сам;  в этом случае сдвиг прекращается</a:t>
                </a: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В этот момент направление сдвига данного элемента изменяется на противоположное и передвигается следующий меньший его элемент, который можно сдвинуть</a:t>
                </a:r>
              </a:p>
              <a:p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Поскольку хранится перестановка, обратная к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𝜋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то в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𝜋</m:t>
                    </m:r>
                  </m:oMath>
                </a14:m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легко найти место следующего меньшего элемента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5796"/>
                <a:ext cx="11167188" cy="3970318"/>
              </a:xfrm>
              <a:prstGeom prst="rect">
                <a:avLst/>
              </a:prstGeom>
              <a:blipFill>
                <a:blip r:embed="rId3"/>
                <a:stretch>
                  <a:fillRect l="-1146" t="-1534" b="-32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65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Джонсона - Троттера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1628800"/>
            <a:ext cx="9260855" cy="4896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Овальная выноска 1"/>
              <p:cNvSpPr/>
              <p:nvPr/>
            </p:nvSpPr>
            <p:spPr>
              <a:xfrm>
                <a:off x="7896200" y="1759235"/>
                <a:ext cx="4176464" cy="936104"/>
              </a:xfrm>
              <a:prstGeom prst="wedgeEllipseCallout">
                <a:avLst>
                  <a:gd name="adj1" fmla="val -174570"/>
                  <a:gd name="adj2" fmla="val 61231"/>
                </a:avLst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</a:rPr>
                  <a:t>Пока имеется мобильное число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Овальная выноска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200" y="1759235"/>
                <a:ext cx="4176464" cy="936104"/>
              </a:xfrm>
              <a:prstGeom prst="wedgeEllipseCallout">
                <a:avLst>
                  <a:gd name="adj1" fmla="val -174570"/>
                  <a:gd name="adj2" fmla="val 61231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вальная выноска 6"/>
              <p:cNvSpPr/>
              <p:nvPr/>
            </p:nvSpPr>
            <p:spPr>
              <a:xfrm>
                <a:off x="7896200" y="3065748"/>
                <a:ext cx="4176464" cy="936104"/>
              </a:xfrm>
              <a:prstGeom prst="wedgeEllipseCallout">
                <a:avLst>
                  <a:gd name="adj1" fmla="val -15625"/>
                  <a:gd name="adj2" fmla="val 100558"/>
                </a:avLst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</a:rPr>
                  <a:t>Находим наибольшее мобильное число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Овальная выноска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200" y="3065748"/>
                <a:ext cx="4176464" cy="936104"/>
              </a:xfrm>
              <a:prstGeom prst="wedgeEllipseCallout">
                <a:avLst>
                  <a:gd name="adj1" fmla="val -15625"/>
                  <a:gd name="adj2" fmla="val 100558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вальная выноска 7"/>
              <p:cNvSpPr/>
              <p:nvPr/>
            </p:nvSpPr>
            <p:spPr>
              <a:xfrm>
                <a:off x="8328249" y="4653136"/>
                <a:ext cx="3744415" cy="792088"/>
              </a:xfrm>
              <a:prstGeom prst="wedgeEllipseCallout">
                <a:avLst>
                  <a:gd name="adj1" fmla="val -155402"/>
                  <a:gd name="adj2" fmla="val -12821"/>
                </a:avLst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dirty="0">
                    <a:solidFill>
                      <a:schemeClr val="tx1"/>
                    </a:solidFill>
                  </a:rPr>
                  <a:t>Меняем местами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1400" dirty="0">
                    <a:solidFill>
                      <a:schemeClr val="tx1"/>
                    </a:solidFill>
                  </a:rPr>
                  <a:t> и соседнее число, на которое указывает стрелка у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ru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Овальная выноска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249" y="4653136"/>
                <a:ext cx="3744415" cy="792088"/>
              </a:xfrm>
              <a:prstGeom prst="wedgeEllipseCallout">
                <a:avLst>
                  <a:gd name="adj1" fmla="val -155402"/>
                  <a:gd name="adj2" fmla="val -12821"/>
                </a:avLst>
              </a:prstGeom>
              <a:blipFill>
                <a:blip r:embed="rId6"/>
                <a:stretch>
                  <a:fillRect b="-2222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76543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Джонсона - Троттера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8127" y="1525322"/>
                <a:ext cx="11167188" cy="5309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for</a:t>
                </a:r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=1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to</a:t>
                </a:r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do</a:t>
                </a:r>
              </a:p>
              <a:p>
                <a:r>
                  <a:rPr lang="en-US" sz="2400" dirty="0">
                    <a:cs typeface="Segoe UI" panose="020B0502040204020203" pitchFamily="34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err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𝜋</m:t>
                        </m:r>
                      </m:e>
                      <m:sub>
                        <m:r>
                          <a:rPr lang="en-US" sz="2400" i="1" dirty="0" err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e>
                      <m:sub>
                        <m:r>
                          <a:rPr lang="en-US" sz="24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:r>
                  <a:rPr lang="en-US" sz="2400" dirty="0">
                    <a:cs typeface="Segoe UI" panose="020B0502040204020203" pitchFamily="34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=−1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0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+1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 {</a:t>
                </a:r>
                <a:r>
                  <a:rPr lang="ru-RU" sz="24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метки границ</a:t>
                </a:r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}</a:t>
                </a:r>
              </a:p>
              <a:p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while</a:t>
                </a:r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≠1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do</a:t>
                </a:r>
              </a:p>
              <a:p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write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</a:t>
                </a:r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𝝅</m:t>
                        </m:r>
                      </m:e>
                      <m:sub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&gt;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do</a:t>
                </a:r>
                <a:endParaRPr lang="en-US" sz="2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𝑚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=−</m:t>
                    </m:r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24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−1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</a:t>
                </a:r>
              </a:p>
              <a:p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↔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;  {</a:t>
                </a:r>
                <a:r>
                  <a:rPr lang="ru-RU" sz="24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изменить</a:t>
                </a:r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}</a:t>
                </a:r>
              </a:p>
              <a:p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 err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 dirty="0" err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↔</m:t>
                    </m:r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e>
                      <m:sub>
                        <m:r>
                          <a:rPr lang="en-US" sz="24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{</a:t>
                </a:r>
                <a:r>
                  <a:rPr lang="ru-RU" sz="24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изменить</a:t>
                </a:r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𝜋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}</a:t>
                </a:r>
              </a:p>
              <a:p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27" y="1525322"/>
                <a:ext cx="11167188" cy="5309339"/>
              </a:xfrm>
              <a:prstGeom prst="rect">
                <a:avLst/>
              </a:prstGeom>
              <a:blipFill>
                <a:blip r:embed="rId3"/>
                <a:stretch>
                  <a:fillRect l="-819" t="-8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7497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Алгоритм Джонсона - Троттера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5796"/>
                <a:ext cx="1116718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Теорема.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Алгоритм Джонсона – Троттера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корректен и строит все перестановки без повторений за время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!)</m:t>
                    </m:r>
                  </m:oMath>
                </a14:m>
                <a:endParaRPr lang="ru-RU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2800" dirty="0"/>
                  <a:t>	</a:t>
                </a:r>
                <a:endParaRPr lang="ru-RU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5796"/>
                <a:ext cx="11167188" cy="1384995"/>
              </a:xfrm>
              <a:prstGeom prst="rect">
                <a:avLst/>
              </a:prstGeom>
              <a:blipFill rotWithShape="0">
                <a:blip r:embed="rId3"/>
                <a:stretch>
                  <a:fillRect l="-1146" t="-43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6315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/>
          <p:nvPr/>
        </p:nvSpPr>
        <p:spPr>
          <a:xfrm>
            <a:off x="0" y="3921554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7328" y="4221088"/>
            <a:ext cx="11552746" cy="93992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Порождение случайных перестановок</a:t>
            </a:r>
          </a:p>
        </p:txBody>
      </p:sp>
    </p:spTree>
    <p:extLst>
      <p:ext uri="{BB962C8B-B14F-4D97-AF65-F5344CB8AC3E}">
        <p14:creationId xmlns:p14="http://schemas.microsoft.com/office/powerpoint/2010/main" val="21188957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Порождение случайных перестановок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368" y="1605796"/>
            <a:ext cx="111671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Напишите метод, тасующий карточную колоду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Колода должна быть идеально перемешана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Перестановки карт должны быть равновероятными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Вы можете использовать идеальный генератор случайных чисел</a:t>
            </a:r>
            <a:r>
              <a:rPr lang="en-US" sz="2800" dirty="0"/>
              <a:t>	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3754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Литература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60499" y="6927610"/>
            <a:ext cx="6135902" cy="854594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028" name="Picture 4" descr="https://ozon-st.cdn.ngenix.net/multimedia/101035588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280" y="1533298"/>
            <a:ext cx="3084823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ozon-st.cdn.ngenix.net/multimedia/101198544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848" y="1533298"/>
            <a:ext cx="3201162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ozon-st.cdn.ngenix.net/multimedia/1013233467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39" y="1533298"/>
            <a:ext cx="3409939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9771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0" y="-19710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81399" y="251253"/>
            <a:ext cx="10848528" cy="7294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Лабораторная работа 1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91344" y="1929116"/>
            <a:ext cx="11383212" cy="15462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  <a:p>
            <a:endParaRPr lang="ru-RU" sz="2800" dirty="0">
              <a:solidFill>
                <a:srgbClr val="0070C0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68" y="1605796"/>
                <a:ext cx="11167188" cy="495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1.1. [# </a:t>
                </a:r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5</a:t>
                </a:r>
                <a:r>
                  <a:rPr lang="ru-RU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]</a:t>
                </a:r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Сгенерировать с помощью алгоритма Нарайаны порождения всех перестановок с выводом времени работы до сотых секунд для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 Записать время порождения всех перестановок для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без вывода полученных последовательностей. Оценить время работы программы для входа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ru-RU" sz="2400" dirty="0">
                  <a:latin typeface="Segoe UI" panose="020B0502040204020203" pitchFamily="34" charset="0"/>
                </a:endParaRPr>
              </a:p>
              <a:p>
                <a:endParaRPr lang="en-US" sz="2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1.</a:t>
                </a:r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2</a:t>
                </a:r>
                <a:r>
                  <a:rPr lang="ru-RU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 [# </a:t>
                </a:r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15</a:t>
                </a:r>
                <a:r>
                  <a:rPr lang="ru-RU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] </a:t>
                </a:r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Реализовать алгоритм Джонсона – Троттера</a:t>
                </a:r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с выводом времени работы до сотых секунд. Записать время порождения всех перестановок для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без вывода полученных последовательностей. Оценить время работы программы для входа N=50 и N=100</a:t>
                </a:r>
              </a:p>
              <a:p>
                <a:endParaRPr lang="en-US" sz="2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1.</a:t>
                </a:r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ru-RU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 [# </a:t>
                </a:r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5</a:t>
                </a:r>
                <a:r>
                  <a:rPr lang="ru-RU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] </a:t>
                </a:r>
                <a:r>
                  <a:rPr lang="ru-RU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Реализовать алгоритм порождения случайной перестановки</a:t>
                </a:r>
              </a:p>
              <a:p>
                <a:r>
                  <a:rPr lang="en-US" sz="2800" dirty="0"/>
                  <a:t>	</a:t>
                </a:r>
                <a:endParaRPr lang="ru-RU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605796"/>
                <a:ext cx="11167188" cy="4955203"/>
              </a:xfrm>
              <a:prstGeom prst="rect">
                <a:avLst/>
              </a:prstGeom>
              <a:blipFill rotWithShape="0">
                <a:blip r:embed="rId3"/>
                <a:stretch>
                  <a:fillRect l="-873" t="-861" r="-3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42981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/>
          <p:nvPr/>
        </p:nvSpPr>
        <p:spPr>
          <a:xfrm>
            <a:off x="0" y="3920193"/>
            <a:ext cx="12192000" cy="12820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4232822"/>
            <a:ext cx="11552746" cy="93992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spc="100" dirty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3614627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B02A613E-02D3-4191-ACCC-97EAB3767AB7}"/>
  <p:tag name="ISPRING_RESOURCE_FOLDER" val="C:\Users\Alexander.Kozlov.SCHOOL\Google Drive\ИПС\Учебный процесс\Подготовительные курсы\Лекции\Лекция 1. Натуральные числа\Базовый тип данных. Натуральные числа\"/>
  <p:tag name="ISPRING_PRESENTATION_PATH" val="C:\Users\Alexander.Kozlov.SCHOOL\Google Drive\ИПС\Учебный процесс\Подготовительные курсы\Лекции\Лекция 1. Натуральные числа\Базовый тип данных. Натуральные числа.pptx"/>
  <p:tag name="ISPRING_PROJECT_FOLDER_UPDATED" val="1"/>
  <p:tag name="ISPRING_SCREEN_RECS_UPDATED" val="C:\Users\Alexander.Kozlov.SCHOOL\Google Drive\ИПС\Учебный процесс\Подготовительные курсы\Лекции\Лекция 1. Натуральные числа\Базовый тип данных. Натуральные числа\"/>
</p:tagLst>
</file>

<file path=ppt/theme/theme1.xml><?xml version="1.0" encoding="utf-8"?>
<a:theme xmlns:a="http://schemas.openxmlformats.org/drawingml/2006/main" name="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онкие сплошные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TM02900722[[fn=Совет директоров]]</Template>
  <TotalTime>9973</TotalTime>
  <Words>1849</Words>
  <Application>Microsoft Office PowerPoint</Application>
  <PresentationFormat>Широкоэкранный</PresentationFormat>
  <Paragraphs>278</Paragraphs>
  <Slides>44</Slides>
  <Notes>36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44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Consolas</vt:lpstr>
      <vt:lpstr>Segoe UI</vt:lpstr>
      <vt:lpstr>Segoe UI Black</vt:lpstr>
      <vt:lpstr>Segoe UI Semilight</vt:lpstr>
      <vt:lpstr>Wingdings 2</vt:lpstr>
      <vt:lpstr>HDOfficeLightV0</vt:lpstr>
      <vt:lpstr>1_HDOfficeLightV0</vt:lpstr>
      <vt:lpstr>2_HDOfficeLightV0</vt:lpstr>
      <vt:lpstr>3_HDOfficeLightV0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Krokoz™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Базовый тип данных. Натуральные числа</dc:title>
  <dc:creator>Alexander</dc:creator>
  <cp:lastModifiedBy>Alexander Kozlov</cp:lastModifiedBy>
  <cp:revision>235</cp:revision>
  <dcterms:created xsi:type="dcterms:W3CDTF">2016-01-11T07:19:05Z</dcterms:created>
  <dcterms:modified xsi:type="dcterms:W3CDTF">2022-02-09T15:36:43Z</dcterms:modified>
</cp:coreProperties>
</file>